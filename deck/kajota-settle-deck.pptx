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2715E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97680"/>
            <a:ext cx="2926080" cy="292608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574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KAJOTA SETTLE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49808" y="320040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C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case management that turns an informal co-sell handshake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C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governed, exception-aware settlement.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 AgentHack 2026   ·   Track 1: Maestro Case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6126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micro-commerce  ·  Built with Claude Code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Deals close on a photo and a promise.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828800"/>
            <a:ext cx="64008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334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African markets, wholesale co-sell deals between merchants are agreed informally — no shared record, no verification, no FX clarity.</a:t>
            </a:r>
            <a:endParaRPr lang="en-US" sz="16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334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is dynamic and exception-heavy: missing documents, unverified counterparties, multi-currency settlement, disputes and defaults.</a:t>
            </a:r>
            <a:endParaRPr lang="en-US" sz="165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650" dirty="0">
                <a:solidFill>
                  <a:srgbClr val="334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exactly the shape case management exists for — yet it runs on WhatsApp and trust.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452360" y="1783080"/>
            <a:ext cx="4069080" cy="1325880"/>
          </a:xfrm>
          <a:prstGeom prst="roundRect">
            <a:avLst>
              <a:gd name="adj" fmla="val 6897"/>
            </a:avLst>
          </a:prstGeom>
          <a:solidFill>
            <a:srgbClr val="EEF4F2"/>
          </a:solidFill>
          <a:ln w="12700">
            <a:solidFill>
              <a:srgbClr val="D7E2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1929384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71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 + promise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35240" y="249631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system of record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52360" y="3264408"/>
            <a:ext cx="4069080" cy="1325880"/>
          </a:xfrm>
          <a:prstGeom prst="roundRect">
            <a:avLst>
              <a:gd name="adj" fmla="val 6897"/>
            </a:avLst>
          </a:prstGeom>
          <a:solidFill>
            <a:srgbClr val="EEF4F2"/>
          </a:solidFill>
          <a:ln w="12700">
            <a:solidFill>
              <a:srgbClr val="D7E2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3410712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71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4+ currencies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35240" y="397764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NGN · GHS · KES · USD corridors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52360" y="4745736"/>
            <a:ext cx="4069080" cy="1325880"/>
          </a:xfrm>
          <a:prstGeom prst="roundRect">
            <a:avLst>
              <a:gd name="adj" fmla="val 6897"/>
            </a:avLst>
          </a:prstGeom>
          <a:solidFill>
            <a:srgbClr val="EEF4F2"/>
          </a:solidFill>
          <a:ln w="12700">
            <a:solidFill>
              <a:srgbClr val="D7E2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35240" y="489204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71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Exception-first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35240" y="5458968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unhappy path is the norm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deal, run as a Maestro Case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600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 with handoffs between AI agents, automated integrations, and people — humans kept in the loop exactly where judgment matters.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2514600"/>
            <a:ext cx="2084832" cy="2377440"/>
          </a:xfrm>
          <a:prstGeom prst="roundRect">
            <a:avLst>
              <a:gd name="adj" fmla="val 4386"/>
            </a:avLst>
          </a:prstGeom>
          <a:solidFill>
            <a:srgbClr val="F6FAF8"/>
          </a:solidFill>
          <a:ln w="12700">
            <a:solidFill>
              <a:srgbClr val="D7E2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81328" y="2770632"/>
            <a:ext cx="438912" cy="438912"/>
          </a:xfrm>
          <a:prstGeom prst="ellipse">
            <a:avLst/>
          </a:prstGeom>
          <a:solidFill>
            <a:srgbClr val="12715E"/>
          </a:solidFill>
          <a:ln/>
        </p:spPr>
      </p:sp>
      <p:sp>
        <p:nvSpPr>
          <p:cNvPr id="7" name="Text 5"/>
          <p:cNvSpPr/>
          <p:nvPr/>
        </p:nvSpPr>
        <p:spPr>
          <a:xfrm>
            <a:off x="1481328" y="27706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3355848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Intake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extracts deal terms from a photo + notes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688336" y="3383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907792" y="2514600"/>
            <a:ext cx="2084832" cy="2377440"/>
          </a:xfrm>
          <a:prstGeom prst="roundRect">
            <a:avLst>
              <a:gd name="adj" fmla="val 4386"/>
            </a:avLst>
          </a:prstGeom>
          <a:solidFill>
            <a:srgbClr val="EEF4F2"/>
          </a:solidFill>
          <a:ln w="12700">
            <a:solidFill>
              <a:srgbClr val="D7E2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30752" y="2770632"/>
            <a:ext cx="438912" cy="438912"/>
          </a:xfrm>
          <a:prstGeom prst="ellipse">
            <a:avLst/>
          </a:prstGeom>
          <a:solidFill>
            <a:srgbClr val="12715E"/>
          </a:solidFill>
          <a:ln/>
        </p:spPr>
      </p:sp>
      <p:sp>
        <p:nvSpPr>
          <p:cNvPr id="13" name="Text 11"/>
          <p:cNvSpPr/>
          <p:nvPr/>
        </p:nvSpPr>
        <p:spPr>
          <a:xfrm>
            <a:off x="3730752" y="27706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999232" y="3355848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072384" y="379476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lookup + agent risk / KYC decision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937760" y="3383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157216" y="2514600"/>
            <a:ext cx="2084832" cy="2377440"/>
          </a:xfrm>
          <a:prstGeom prst="roundRect">
            <a:avLst>
              <a:gd name="adj" fmla="val 4386"/>
            </a:avLst>
          </a:prstGeom>
          <a:solidFill>
            <a:srgbClr val="F6FAF8"/>
          </a:solidFill>
          <a:ln w="12700">
            <a:solidFill>
              <a:srgbClr val="D7E2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0176" y="2770632"/>
            <a:ext cx="438912" cy="438912"/>
          </a:xfrm>
          <a:prstGeom prst="ellipse">
            <a:avLst/>
          </a:prstGeom>
          <a:solidFill>
            <a:srgbClr val="12715E"/>
          </a:solidFill>
          <a:ln/>
        </p:spPr>
      </p:sp>
      <p:sp>
        <p:nvSpPr>
          <p:cNvPr id="19" name="Text 17"/>
          <p:cNvSpPr/>
          <p:nvPr/>
        </p:nvSpPr>
        <p:spPr>
          <a:xfrm>
            <a:off x="5980176" y="27706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248656" y="3355848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321808" y="379476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computes settlement with cross-currency FX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187184" y="3383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7406640" y="2514600"/>
            <a:ext cx="2084832" cy="2377440"/>
          </a:xfrm>
          <a:prstGeom prst="roundRect">
            <a:avLst>
              <a:gd name="adj" fmla="val 4386"/>
            </a:avLst>
          </a:prstGeom>
          <a:solidFill>
            <a:srgbClr val="EEF4F2"/>
          </a:solidFill>
          <a:ln w="12700">
            <a:solidFill>
              <a:srgbClr val="D7E2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2770632"/>
            <a:ext cx="438912" cy="43891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0" y="27706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498080" y="3355848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Settle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571232" y="379476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picks the rail; idempotent execution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436608" y="3383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9656064" y="2514600"/>
            <a:ext cx="2084832" cy="2377440"/>
          </a:xfrm>
          <a:prstGeom prst="roundRect">
            <a:avLst>
              <a:gd name="adj" fmla="val 4386"/>
            </a:avLst>
          </a:prstGeom>
          <a:solidFill>
            <a:srgbClr val="F6FAF8"/>
          </a:solidFill>
          <a:ln w="12700">
            <a:solidFill>
              <a:srgbClr val="D7E2D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79024" y="2770632"/>
            <a:ext cx="438912" cy="438912"/>
          </a:xfrm>
          <a:prstGeom prst="ellipse">
            <a:avLst/>
          </a:prstGeom>
          <a:solidFill>
            <a:srgbClr val="12715E"/>
          </a:solidFill>
          <a:ln/>
        </p:spPr>
      </p:sp>
      <p:sp>
        <p:nvSpPr>
          <p:cNvPr id="31" name="Text 29"/>
          <p:cNvSpPr/>
          <p:nvPr/>
        </p:nvSpPr>
        <p:spPr>
          <a:xfrm>
            <a:off x="10479024" y="27706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747504" y="3355848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Fulfill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9820656" y="379476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confirmed, case closed &amp; reconciled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58368" y="51206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has an exception path (low confidence · high risk · out-of-band price · settlement failure · dispute) that routes to a human task.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UiPath orchestrates agents, people, and systems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5257800" cy="1627632"/>
          </a:xfrm>
          <a:prstGeom prst="roundRect">
            <a:avLst>
              <a:gd name="adj" fmla="val 4494"/>
            </a:avLst>
          </a:prstGeom>
          <a:solidFill>
            <a:srgbClr val="EEF4F2"/>
          </a:solidFill>
          <a:ln w="12700">
            <a:solidFill>
              <a:srgbClr val="D7E2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139696"/>
            <a:ext cx="914400" cy="914400"/>
          </a:xfrm>
          <a:prstGeom prst="ellipse">
            <a:avLst/>
          </a:prstGeom>
          <a:solidFill>
            <a:srgbClr val="12715E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13969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075688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Maestro Case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075688" y="257860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4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orchestration &amp; governance layer — stages, transitions, SLAs, full audit trail.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257800" cy="1627632"/>
          </a:xfrm>
          <a:prstGeom prst="roundRect">
            <a:avLst>
              <a:gd name="adj" fmla="val 4494"/>
            </a:avLst>
          </a:prstGeom>
          <a:solidFill>
            <a:srgbClr val="EEF4F2"/>
          </a:solidFill>
          <a:ln w="12700">
            <a:solidFill>
              <a:srgbClr val="D7E2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139696"/>
            <a:ext cx="914400" cy="914400"/>
          </a:xfrm>
          <a:prstGeom prst="ellipse">
            <a:avLst/>
          </a:prstGeom>
          <a:solidFill>
            <a:srgbClr val="12715E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13969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68096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Builder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680960" y="257860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4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agents (Intake · Risk · Pricing · Settlement), each returning strict JSON the case branches on.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8368" y="3657600"/>
            <a:ext cx="5257800" cy="1627632"/>
          </a:xfrm>
          <a:prstGeom prst="roundRect">
            <a:avLst>
              <a:gd name="adj" fmla="val 4494"/>
            </a:avLst>
          </a:prstGeom>
          <a:solidFill>
            <a:srgbClr val="EEF4F2"/>
          </a:solidFill>
          <a:ln w="12700">
            <a:solidFill>
              <a:srgbClr val="D7E2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" y="3968496"/>
            <a:ext cx="914400" cy="914400"/>
          </a:xfrm>
          <a:prstGeom prst="ellipse">
            <a:avLst/>
          </a:prstGeom>
          <a:solidFill>
            <a:srgbClr val="12715E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396849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075688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Center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075688" y="440740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4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tasks for the four exception paths — judgment where it counts.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63640" y="3657600"/>
            <a:ext cx="5257800" cy="1627632"/>
          </a:xfrm>
          <a:prstGeom prst="roundRect">
            <a:avLst>
              <a:gd name="adj" fmla="val 4494"/>
            </a:avLst>
          </a:prstGeom>
          <a:solidFill>
            <a:srgbClr val="EEF4F2"/>
          </a:solidFill>
          <a:ln w="12700">
            <a:solidFill>
              <a:srgbClr val="D7E2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3968496"/>
            <a:ext cx="914400" cy="914400"/>
          </a:xfrm>
          <a:prstGeom prst="ellipse">
            <a:avLst/>
          </a:prstGeom>
          <a:solidFill>
            <a:srgbClr val="12715E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96849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68096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Workflows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680960" y="440740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4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lookup, FX, settlement, delivery — no RPA robot needed, runs fully on cloud.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UiPath, orchestrating a Web3 settlement rail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62763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Settle stage, the Settlement Orchestration Agent chooses the rail and an API workflow executes it idempotently.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2514600"/>
            <a:ext cx="5212080" cy="2651760"/>
          </a:xfrm>
          <a:prstGeom prst="roundRect">
            <a:avLst>
              <a:gd name="adj" fmla="val 3448"/>
            </a:avLst>
          </a:prstGeom>
          <a:solidFill>
            <a:srgbClr val="0F4D49"/>
          </a:solidFill>
          <a:ln w="19050">
            <a:solidFill>
              <a:srgbClr val="1271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28346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618488" y="27889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Fiat payout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24128" y="35204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rail — bank / mobile-money payout via API workflow, with retry + human escalation on failure.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36208" y="2514600"/>
            <a:ext cx="5212080" cy="2651760"/>
          </a:xfrm>
          <a:prstGeom prst="roundRect">
            <a:avLst>
              <a:gd name="adj" fmla="val 3448"/>
            </a:avLst>
          </a:prstGeom>
          <a:solidFill>
            <a:srgbClr val="0F4D49"/>
          </a:solidFill>
          <a:ln w="19050">
            <a:solidFill>
              <a:srgbClr val="1271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56248" y="283464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7196328" y="27889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On-chain mesh escrow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601968" y="35204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higher-trust or escrow-preferred deals, settle to Kajota's mesh escrow contract on Ethereum / Mantle Sepolia.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case, pluggable rails — UiPath stays the orchestration &amp; governance layer over either.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SCORES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rubric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10896" cy="3108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737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71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80560" y="173736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large, underserved market — settlement for informal micro-commerce.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" y="2578608"/>
            <a:ext cx="310896" cy="3108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48716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71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usage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480560" y="2487168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 Case + Agent Builder + Action Center + API Workflows, end to end.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5800" y="3328416"/>
            <a:ext cx="310896" cy="3108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23697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71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execution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80560" y="3236976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Data-dependent routing, exception handling, idempotent settlement, HITL.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85800" y="4078224"/>
            <a:ext cx="310896" cy="3108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39867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71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Completeness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480560" y="3986784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case lifecycle — including every unhappy path.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85800" y="4828032"/>
            <a:ext cx="310896" cy="3108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473659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71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Creativity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480560" y="4736592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settlement for the informal economy; on-chain rail as a pluggable option.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58368" y="562356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0B3D3A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623560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Bonus: authored with Claude Code as the coding agent — design, prompts, workflow specs &amp; docs.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12715E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-1188720"/>
            <a:ext cx="2926080" cy="292608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Snap a deal. Settle it — governed.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49808" y="33832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· risk-scored · priced · settled · reconciled — agents and humans, orchestrated by UiPath.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4297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github.com/KaJota-inc/kajota-agenthack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Kajota Settle  ·  UiPath AgentHack 2026  ·  Track 1: Maestro Case  ·  Built with Claude Code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2026-06-26T15:01:55Z</dcterms:created>
  <dcterms:modified xsi:type="dcterms:W3CDTF">2026-06-26T15:01:55Z</dcterms:modified>
</cp:coreProperties>
</file>